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q8K73PATiZ0oQe+MgocfQXwVS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THOA\Downloads\Forage_Wayfair_ROAS%20tracker%20(2)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C:\Users\THOA\Downloads\Forage_Wayfair_ROAS%20tracker%20(2).xlsx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file:///C:\Users\THOA\Downloads\Forage_Wayfair_ROAS%20tracker%20(2).xlsx" TargetMode="External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file:///C:\Users\THOA\Downloads\Forage_Wayfair_ROAS%20tracker%20(2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Revenue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'[Forage_Wayfair_ROAS tracker (2).xlsx]Revenue'!$X$6:$AC$6</c:f>
              <c:numCache>
                <c:formatCode>m/d;@</c:formatCode>
                <c:ptCount val="6"/>
                <c:pt idx="0">
                  <c:v>44704</c:v>
                </c:pt>
                <c:pt idx="1">
                  <c:v>44711</c:v>
                </c:pt>
                <c:pt idx="2">
                  <c:v>44718</c:v>
                </c:pt>
                <c:pt idx="3">
                  <c:v>44725</c:v>
                </c:pt>
                <c:pt idx="4">
                  <c:v>44732</c:v>
                </c:pt>
                <c:pt idx="5">
                  <c:v>44739</c:v>
                </c:pt>
              </c:numCache>
            </c:numRef>
          </c:cat>
          <c:val>
            <c:numRef>
              <c:f>'[Forage_Wayfair_ROAS tracker (2).xlsx]Revenue'!$X$7:$AC$7</c:f>
              <c:numCache>
                <c:formatCode>_(* #,##0_);_(* \(#,##0\);_(* "-"??_);_(@_)</c:formatCode>
                <c:ptCount val="6"/>
                <c:pt idx="0">
                  <c:v>6427.9077912720013</c:v>
                </c:pt>
                <c:pt idx="1">
                  <c:v>5334.3425205000003</c:v>
                </c:pt>
                <c:pt idx="2">
                  <c:v>3860.0068624000005</c:v>
                </c:pt>
                <c:pt idx="3">
                  <c:v>2380.9418422360004</c:v>
                </c:pt>
                <c:pt idx="4">
                  <c:v>2784.0123698400002</c:v>
                </c:pt>
                <c:pt idx="5">
                  <c:v>2130.265518528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D8-473C-8724-DA0C14A12E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9298847"/>
        <c:axId val="1449285951"/>
      </c:lineChart>
      <c:dateAx>
        <c:axId val="1449298847"/>
        <c:scaling>
          <c:orientation val="minMax"/>
        </c:scaling>
        <c:delete val="0"/>
        <c:axPos val="b"/>
        <c:numFmt formatCode="m/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285951"/>
        <c:crosses val="autoZero"/>
        <c:auto val="1"/>
        <c:lblOffset val="100"/>
        <c:baseTimeUnit val="days"/>
      </c:dateAx>
      <c:valAx>
        <c:axId val="1449285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2988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ROAS summary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'[Forage_Wayfair_ROAS tracker (2).xlsx]ROAS summary'!$X$6:$AC$6</c:f>
              <c:numCache>
                <c:formatCode>m/d;@</c:formatCode>
                <c:ptCount val="6"/>
                <c:pt idx="0">
                  <c:v>44704</c:v>
                </c:pt>
                <c:pt idx="1">
                  <c:v>44711</c:v>
                </c:pt>
                <c:pt idx="2">
                  <c:v>44718</c:v>
                </c:pt>
                <c:pt idx="3">
                  <c:v>44725</c:v>
                </c:pt>
                <c:pt idx="4">
                  <c:v>44732</c:v>
                </c:pt>
                <c:pt idx="5">
                  <c:v>44739</c:v>
                </c:pt>
              </c:numCache>
            </c:numRef>
          </c:cat>
          <c:val>
            <c:numRef>
              <c:f>'[Forage_Wayfair_ROAS tracker (2).xlsx]ROAS summary'!$X$7:$AC$7</c:f>
              <c:numCache>
                <c:formatCode>_(* #,##0_);_(* \(#,##0\);_(* "-"??_);_(@_)</c:formatCode>
                <c:ptCount val="6"/>
                <c:pt idx="0">
                  <c:v>3.4767529600000007</c:v>
                </c:pt>
                <c:pt idx="1">
                  <c:v>2.8881900000000003</c:v>
                </c:pt>
                <c:pt idx="2">
                  <c:v>2.0909546666666672</c:v>
                </c:pt>
                <c:pt idx="3">
                  <c:v>1.2911657066666669</c:v>
                </c:pt>
                <c:pt idx="4">
                  <c:v>1.5127008000000002</c:v>
                </c:pt>
                <c:pt idx="5">
                  <c:v>1.15961216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04-4A07-8BBF-4365DD658B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9230143"/>
        <c:axId val="2099229311"/>
      </c:lineChart>
      <c:dateAx>
        <c:axId val="2099230143"/>
        <c:scaling>
          <c:orientation val="minMax"/>
        </c:scaling>
        <c:delete val="0"/>
        <c:axPos val="b"/>
        <c:numFmt formatCode="m/d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9229311"/>
        <c:crosses val="autoZero"/>
        <c:auto val="1"/>
        <c:lblOffset val="100"/>
        <c:baseTimeUnit val="days"/>
      </c:dateAx>
      <c:valAx>
        <c:axId val="2099229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9230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Order volume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'[Forage_Wayfair_ROAS tracker (2).xlsx]Order volume'!$X$6:$AC$6</c:f>
              <c:numCache>
                <c:formatCode>m/d;@</c:formatCode>
                <c:ptCount val="6"/>
                <c:pt idx="0">
                  <c:v>44704</c:v>
                </c:pt>
                <c:pt idx="1">
                  <c:v>44711</c:v>
                </c:pt>
                <c:pt idx="2">
                  <c:v>44718</c:v>
                </c:pt>
                <c:pt idx="3">
                  <c:v>44725</c:v>
                </c:pt>
                <c:pt idx="4">
                  <c:v>44732</c:v>
                </c:pt>
                <c:pt idx="5">
                  <c:v>44739</c:v>
                </c:pt>
              </c:numCache>
            </c:numRef>
          </c:cat>
          <c:val>
            <c:numRef>
              <c:f>'[Forage_Wayfair_ROAS tracker (2).xlsx]Order volume'!$X$7:$AC$7</c:f>
              <c:numCache>
                <c:formatCode>0</c:formatCode>
                <c:ptCount val="6"/>
                <c:pt idx="0">
                  <c:v>42.009988856197211</c:v>
                </c:pt>
                <c:pt idx="1">
                  <c:v>32.007249505229808</c:v>
                </c:pt>
                <c:pt idx="2">
                  <c:v>22.008517390867933</c:v>
                </c:pt>
                <c:pt idx="3">
                  <c:v>13.001777313018284</c:v>
                </c:pt>
                <c:pt idx="4">
                  <c:v>16.006120605908428</c:v>
                </c:pt>
                <c:pt idx="5">
                  <c:v>13.003184453335505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6C-40CC-816D-287EEE0BDD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9295519"/>
        <c:axId val="1449307167"/>
      </c:lineChart>
      <c:dateAx>
        <c:axId val="1449295519"/>
        <c:scaling>
          <c:orientation val="minMax"/>
        </c:scaling>
        <c:delete val="0"/>
        <c:axPos val="b"/>
        <c:numFmt formatCode="m/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307167"/>
        <c:crosses val="autoZero"/>
        <c:auto val="1"/>
        <c:lblOffset val="100"/>
        <c:baseTimeUnit val="days"/>
      </c:dateAx>
      <c:valAx>
        <c:axId val="1449307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295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Advertising spend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'[Forage_Wayfair_ROAS tracker (2).xlsx]Advertising spend'!$D$6:$AC$6</c:f>
              <c:numCache>
                <c:formatCode>m/d;@</c:formatCode>
                <c:ptCount val="26"/>
                <c:pt idx="0">
                  <c:v>44564</c:v>
                </c:pt>
                <c:pt idx="1">
                  <c:v>44571</c:v>
                </c:pt>
                <c:pt idx="2">
                  <c:v>44578</c:v>
                </c:pt>
                <c:pt idx="3">
                  <c:v>44585</c:v>
                </c:pt>
                <c:pt idx="4">
                  <c:v>44592</c:v>
                </c:pt>
                <c:pt idx="5">
                  <c:v>44599</c:v>
                </c:pt>
                <c:pt idx="6">
                  <c:v>44606</c:v>
                </c:pt>
                <c:pt idx="7">
                  <c:v>44613</c:v>
                </c:pt>
                <c:pt idx="8">
                  <c:v>44620</c:v>
                </c:pt>
                <c:pt idx="9">
                  <c:v>44627</c:v>
                </c:pt>
                <c:pt idx="10">
                  <c:v>44634</c:v>
                </c:pt>
                <c:pt idx="11">
                  <c:v>44641</c:v>
                </c:pt>
                <c:pt idx="12">
                  <c:v>44648</c:v>
                </c:pt>
                <c:pt idx="13">
                  <c:v>44655</c:v>
                </c:pt>
                <c:pt idx="14">
                  <c:v>44662</c:v>
                </c:pt>
                <c:pt idx="15">
                  <c:v>44669</c:v>
                </c:pt>
                <c:pt idx="16">
                  <c:v>44676</c:v>
                </c:pt>
                <c:pt idx="17">
                  <c:v>44683</c:v>
                </c:pt>
                <c:pt idx="18">
                  <c:v>44690</c:v>
                </c:pt>
                <c:pt idx="19">
                  <c:v>44697</c:v>
                </c:pt>
                <c:pt idx="20">
                  <c:v>44704</c:v>
                </c:pt>
                <c:pt idx="21">
                  <c:v>44711</c:v>
                </c:pt>
                <c:pt idx="22">
                  <c:v>44718</c:v>
                </c:pt>
                <c:pt idx="23">
                  <c:v>44725</c:v>
                </c:pt>
                <c:pt idx="24">
                  <c:v>44732</c:v>
                </c:pt>
                <c:pt idx="25">
                  <c:v>44739</c:v>
                </c:pt>
              </c:numCache>
            </c:numRef>
          </c:cat>
          <c:val>
            <c:numRef>
              <c:f>'[Forage_Wayfair_ROAS tracker (2).xlsx]Advertising spend'!$D$7:$AC$7</c:f>
              <c:numCache>
                <c:formatCode>_(* #,##0_);_(* \(#,##0\);_(* "-"??_);_(@_)</c:formatCode>
                <c:ptCount val="26"/>
                <c:pt idx="0">
                  <c:v>1815.075</c:v>
                </c:pt>
                <c:pt idx="1">
                  <c:v>1814.325</c:v>
                </c:pt>
                <c:pt idx="2">
                  <c:v>1817.1</c:v>
                </c:pt>
                <c:pt idx="3">
                  <c:v>1817.4749999999999</c:v>
                </c:pt>
                <c:pt idx="4">
                  <c:v>1818.375</c:v>
                </c:pt>
                <c:pt idx="5">
                  <c:v>1818.5250000000001</c:v>
                </c:pt>
                <c:pt idx="6">
                  <c:v>1822.575</c:v>
                </c:pt>
                <c:pt idx="7">
                  <c:v>1822.8</c:v>
                </c:pt>
                <c:pt idx="8">
                  <c:v>1825.95</c:v>
                </c:pt>
                <c:pt idx="9">
                  <c:v>1827.15</c:v>
                </c:pt>
                <c:pt idx="10">
                  <c:v>1831.2</c:v>
                </c:pt>
                <c:pt idx="11">
                  <c:v>1834.575</c:v>
                </c:pt>
                <c:pt idx="12">
                  <c:v>1836.45</c:v>
                </c:pt>
                <c:pt idx="13">
                  <c:v>1836.9749999999999</c:v>
                </c:pt>
                <c:pt idx="14">
                  <c:v>1839.3</c:v>
                </c:pt>
                <c:pt idx="15">
                  <c:v>1842.75</c:v>
                </c:pt>
                <c:pt idx="16">
                  <c:v>1846.35</c:v>
                </c:pt>
                <c:pt idx="17">
                  <c:v>1847.7</c:v>
                </c:pt>
                <c:pt idx="18">
                  <c:v>1843.95</c:v>
                </c:pt>
                <c:pt idx="19">
                  <c:v>1847.55</c:v>
                </c:pt>
                <c:pt idx="20">
                  <c:v>1848.825</c:v>
                </c:pt>
                <c:pt idx="21">
                  <c:v>1846.95</c:v>
                </c:pt>
                <c:pt idx="22">
                  <c:v>1846.05</c:v>
                </c:pt>
                <c:pt idx="23">
                  <c:v>1844.0250000000001</c:v>
                </c:pt>
                <c:pt idx="24">
                  <c:v>1840.425</c:v>
                </c:pt>
                <c:pt idx="25">
                  <c:v>1837.05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09-425B-9DC7-7C6285703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9300927"/>
        <c:axId val="1449289695"/>
      </c:lineChart>
      <c:dateAx>
        <c:axId val="1449300927"/>
        <c:scaling>
          <c:orientation val="minMax"/>
        </c:scaling>
        <c:delete val="0"/>
        <c:axPos val="b"/>
        <c:numFmt formatCode="m/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289695"/>
        <c:crosses val="autoZero"/>
        <c:auto val="1"/>
        <c:lblOffset val="100"/>
        <c:baseTimeUnit val="days"/>
      </c:dateAx>
      <c:valAx>
        <c:axId val="14492896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3009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0" y="2275"/>
            <a:ext cx="12192000" cy="4549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Hypothesis 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 txBox="1"/>
          <p:nvPr>
            <p:ph idx="1" type="body"/>
          </p:nvPr>
        </p:nvSpPr>
        <p:spPr>
          <a:xfrm>
            <a:off x="644814" y="890299"/>
            <a:ext cx="11242386" cy="3318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Facebook Algorithm has changed, so that our Impressions with customers do not effective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Our Advertisement are considered like spam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Some customers order our products, but many reasons later they don’t want to buy it anymore</a:t>
            </a:r>
            <a:endParaRPr/>
          </a:p>
          <a:p>
            <a:pPr indent="-3429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Char char="-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up ads wrong with the customers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0" y="2275"/>
            <a:ext cx="12192000" cy="454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analysis and chart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>
            <p:ph idx="1" type="body"/>
          </p:nvPr>
        </p:nvSpPr>
        <p:spPr>
          <a:xfrm>
            <a:off x="838200" y="2888673"/>
            <a:ext cx="10515600" cy="11340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ROAS, Revenue and Order volume from the week of 5/23 to 6/12 started intensely decrease. After that there is a little significant increase. Maybe in this time, there’s something changed about customer need, or market, apper some opponent compete with our company, and the most important is our product quality.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/>
        </p:nvGraphicFramePr>
        <p:xfrm>
          <a:off x="4468091" y="470614"/>
          <a:ext cx="3636817" cy="2230899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87" name="Google Shape;87;p2"/>
          <p:cNvGraphicFramePr/>
          <p:nvPr/>
        </p:nvGraphicFramePr>
        <p:xfrm>
          <a:off x="196388" y="484152"/>
          <a:ext cx="3756660" cy="2217483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88" name="Google Shape;88;p2"/>
          <p:cNvGraphicFramePr/>
          <p:nvPr/>
        </p:nvGraphicFramePr>
        <p:xfrm>
          <a:off x="8619951" y="523607"/>
          <a:ext cx="3338946" cy="2178028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id="89" name="Google Shape;89;p2"/>
          <p:cNvGraphicFramePr/>
          <p:nvPr/>
        </p:nvGraphicFramePr>
        <p:xfrm>
          <a:off x="838200" y="4209747"/>
          <a:ext cx="5105401" cy="2502782"/>
        </p:xfrm>
        <a:graphic>
          <a:graphicData uri="http://schemas.openxmlformats.org/drawingml/2006/chart">
            <c:chart r:id="rId6"/>
          </a:graphicData>
        </a:graphic>
      </p:graphicFrame>
      <p:sp>
        <p:nvSpPr>
          <p:cNvPr id="90" name="Google Shape;90;p2"/>
          <p:cNvSpPr txBox="1"/>
          <p:nvPr/>
        </p:nvSpPr>
        <p:spPr>
          <a:xfrm>
            <a:off x="6210300" y="4895673"/>
            <a:ext cx="5254337" cy="15586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Conversely, Advertising spend from 3/7 is increasingly going up. And the top in 5/23 is 1.849$. Why we spend too much money in this time, althought it’s not effective? So that we need to find out what’s going on is this time.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2275"/>
            <a:ext cx="12192000" cy="4549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Findings and recommended 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485901"/>
            <a:ext cx="10515600" cy="3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Redefine the market and hang the audience to set up advertising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See if there are any new competitors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Adjust prices to suit the market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Improve service quality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Launch many promotions to entice customers again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2022-06-26T16:27:20Z</dcterms:created>
  <dc:creator>Sathe, Maithelee</dc:creator>
</cp:coreProperties>
</file>